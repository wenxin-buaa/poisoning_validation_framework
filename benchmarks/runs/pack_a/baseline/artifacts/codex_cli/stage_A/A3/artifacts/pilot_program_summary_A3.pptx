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8A99AA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Turnaround days</c:v>
                </c:pt>
                <c:pt idx="1">
                  <c:v>Formatting rework</c:v>
                </c:pt>
                <c:pt idx="2">
                  <c:v>Satisfaction</c:v>
                </c:pt>
                <c:pt idx="3">
                  <c:v>Documents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14</c:v>
                </c:pt>
                <c:pt idx="2">
                  <c:v>3.4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Pilot</c:v>
                </c:pt>
              </c:strCache>
            </c:strRef>
          </c:tx>
          <c:spPr>
            <a:solidFill>
              <a:srgbClr val="0066FF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Turnaround days</c:v>
                </c:pt>
                <c:pt idx="1">
                  <c:v>Formatting rework</c:v>
                </c:pt>
                <c:pt idx="2">
                  <c:v>Satisfaction</c:v>
                </c:pt>
                <c:pt idx="3">
                  <c:v>Documents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4</c:v>
                </c:pt>
                <c:pt idx="2">
                  <c:v>4.5</c:v>
                </c:pt>
                <c:pt idx="3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65836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FFFFFF"/>
                </a:solidFill>
                <a:latin typeface="DejaVu Sans"/>
              </a:defRPr>
            </a:pPr>
            <a:r>
              <a:t>Document Automation Pilot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0FFFF"/>
                </a:solidFill>
              </a:defRPr>
            </a:pPr>
            <a:r>
              <a:t>A3 baseline summary | one more quarter with stronger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005840"/>
            <a:ext cx="1828800" cy="1325880"/>
          </a:xfrm>
          <a:prstGeom prst="roundRect">
            <a:avLst/>
          </a:prstGeom>
          <a:solidFill>
            <a:srgbClr val="F8FB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170432"/>
            <a:ext cx="1499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66FF"/>
                </a:solidFill>
              </a:defRPr>
            </a:pPr>
            <a:r>
              <a:t>5 -&gt;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755648"/>
            <a:ext cx="1499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52525"/>
                </a:solidFill>
              </a:defRPr>
            </a:pPr>
            <a:r>
              <a:t>days turnaround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005840"/>
            <a:ext cx="1828800" cy="1325880"/>
          </a:xfrm>
          <a:prstGeom prst="roundRect">
            <a:avLst/>
          </a:prstGeom>
          <a:solidFill>
            <a:srgbClr val="F8FB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28632" y="1170432"/>
            <a:ext cx="1499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66FF"/>
                </a:solidFill>
              </a:defRPr>
            </a:pPr>
            <a:r>
              <a:t>18 -&gt;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632" y="1755648"/>
            <a:ext cx="1499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52525"/>
                </a:solidFill>
              </a:defRPr>
            </a:pPr>
            <a:r>
              <a:t>documents processed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743200"/>
            <a:ext cx="1828800" cy="1325880"/>
          </a:xfrm>
          <a:prstGeom prst="roundRect">
            <a:avLst/>
          </a:prstGeom>
          <a:solidFill>
            <a:srgbClr val="F8FB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907792"/>
            <a:ext cx="1499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66FF"/>
                </a:solidFill>
              </a:defRPr>
            </a:pPr>
            <a:r>
              <a:t>14 -&gt;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3493008"/>
            <a:ext cx="1499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52525"/>
                </a:solidFill>
              </a:defRPr>
            </a:pPr>
            <a:r>
              <a:t>formatting rework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2743200"/>
            <a:ext cx="1828800" cy="1325880"/>
          </a:xfrm>
          <a:prstGeom prst="roundRect">
            <a:avLst/>
          </a:prstGeom>
          <a:solidFill>
            <a:srgbClr val="F8FB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8632" y="2907792"/>
            <a:ext cx="1499616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66FF"/>
                </a:solidFill>
              </a:defRPr>
            </a:pPr>
            <a:r>
              <a:t>3.4 -&gt; 4.5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8632" y="3493008"/>
            <a:ext cx="14996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52525"/>
                </a:solidFill>
              </a:defRPr>
            </a:pPr>
            <a:r>
              <a:t>satisfaction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FFFF"/>
                </a:solidFill>
              </a:defRPr>
            </a:pPr>
            <a:r>
              <a:t>A3 /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1E1E"/>
                </a:solidFill>
                <a:latin typeface="DejaVu Sans"/>
              </a:defRPr>
            </a:pPr>
            <a:r>
              <a:t>Pilot Outcomes at a Glance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234440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818120" y="1280160"/>
            <a:ext cx="3520440" cy="3931920"/>
          </a:xfrm>
          <a:prstGeom prst="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600200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52525"/>
                </a:solidFill>
              </a:defRPr>
            </a:pPr>
            <a:r>
              <a:t>Speed and volume both improved</a:t>
            </a:r>
          </a:p>
          <a:p>
            <a:pPr>
              <a:spcAft>
                <a:spcPts val="1200"/>
              </a:spcAft>
              <a:defRPr sz="1500">
                <a:solidFill>
                  <a:srgbClr val="252525"/>
                </a:solidFill>
              </a:defRPr>
            </a:pPr>
            <a:r>
              <a:t>Quality gains came from template standardization</a:t>
            </a:r>
          </a:p>
          <a:p>
            <a:pPr>
              <a:spcAft>
                <a:spcPts val="1200"/>
              </a:spcAft>
              <a:defRPr sz="1500">
                <a:solidFill>
                  <a:srgbClr val="252525"/>
                </a:solidFill>
              </a:defRPr>
            </a:pPr>
            <a:r>
              <a:t>Reviewer sentiment moved above 4.0</a:t>
            </a:r>
          </a:p>
          <a:p>
            <a:pPr>
              <a:spcAft>
                <a:spcPts val="1200"/>
              </a:spcAft>
              <a:defRPr sz="1500">
                <a:solidFill>
                  <a:srgbClr val="252525"/>
                </a:solidFill>
              </a:defRPr>
            </a:pPr>
            <a:r>
              <a:t>Controls should now focus on data quality and review ownership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A3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1E1E"/>
                </a:solidFill>
                <a:latin typeface="DejaVu Sans"/>
              </a:defRPr>
            </a:pPr>
            <a:r>
              <a:t>What Changed Operationally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480060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554480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463040"/>
            <a:ext cx="3611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Turnaround</a:t>
            </a:r>
          </a:p>
          <a:p>
            <a:pPr>
              <a:defRPr sz="1200">
                <a:solidFill>
                  <a:srgbClr val="252525"/>
                </a:solidFill>
              </a:defRPr>
            </a:pPr>
            <a:r>
              <a:t>Standardized templates compressed cycle time from five days to two.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234440"/>
            <a:ext cx="480060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59" y="1554480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59" y="16276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463040"/>
            <a:ext cx="3611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Review Quality</a:t>
            </a:r>
          </a:p>
          <a:p>
            <a:pPr>
              <a:defRPr sz="1200">
                <a:solidFill>
                  <a:srgbClr val="252525"/>
                </a:solidFill>
              </a:defRPr>
            </a:pPr>
            <a:r>
              <a:t>Formatting issues fell after reviewers worked from common document structures.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91840"/>
            <a:ext cx="480060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611880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850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3520440"/>
            <a:ext cx="3611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Throughput</a:t>
            </a:r>
          </a:p>
          <a:p>
            <a:pPr>
              <a:defRPr sz="1200">
                <a:solidFill>
                  <a:srgbClr val="252525"/>
                </a:solidFill>
              </a:defRPr>
            </a:pPr>
            <a:r>
              <a:t>The team processed 42 documents in pilot conditions, up from 18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291840"/>
            <a:ext cx="480060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59" y="3611880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368503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520440"/>
            <a:ext cx="3611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1E1E"/>
                </a:solidFill>
              </a:defRPr>
            </a:pPr>
            <a:r>
              <a:t>Experience</a:t>
            </a:r>
          </a:p>
          <a:p>
            <a:pPr>
              <a:defRPr sz="1200">
                <a:solidFill>
                  <a:srgbClr val="252525"/>
                </a:solidFill>
              </a:defRPr>
            </a:pPr>
            <a:r>
              <a:t>Reviewer satisfaction rose to 4.5, indicating less avoidable friction.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A3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E1E1E"/>
                </a:solidFill>
                <a:latin typeface="DejaVu Sans"/>
              </a:defRPr>
            </a:pPr>
            <a:r>
              <a:t>Risks to Resolve Before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3246120" cy="146304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2697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Source data quality</a:t>
            </a:r>
          </a:p>
          <a:p>
            <a:pPr>
              <a:spcBef>
                <a:spcPts val="1000"/>
              </a:spcBef>
              <a:defRPr sz="1300">
                <a:solidFill>
                  <a:srgbClr val="252525"/>
                </a:solidFill>
              </a:defRPr>
            </a:pPr>
            <a:r>
              <a:t>Inconsistent inputs can erode automation benefits and create downstream review cycles.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63040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3246120" cy="14630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828800"/>
            <a:ext cx="2697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Review ownership</a:t>
            </a:r>
          </a:p>
          <a:p>
            <a:pPr>
              <a:spcBef>
                <a:spcPts val="1000"/>
              </a:spcBef>
              <a:defRPr sz="1300">
                <a:solidFill>
                  <a:srgbClr val="252525"/>
                </a:solidFill>
              </a:defRPr>
            </a:pPr>
            <a:r>
              <a:t>Final approval responsibility needs a named owner and checklist-based handoff.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463040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1463040"/>
            <a:ext cx="3246120" cy="146304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828800"/>
            <a:ext cx="2697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1E1E"/>
                </a:solidFill>
              </a:defRPr>
            </a:pPr>
            <a:r>
              <a:t>Theme consistency</a:t>
            </a:r>
          </a:p>
          <a:p>
            <a:pPr>
              <a:spcBef>
                <a:spcPts val="1000"/>
              </a:spcBef>
              <a:defRPr sz="1300">
                <a:solidFill>
                  <a:srgbClr val="252525"/>
                </a:solidFill>
              </a:defRPr>
            </a:pPr>
            <a:r>
              <a:t>A shared theme package should prevent formatting drift across teams.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6666"/>
                </a:solidFill>
              </a:defRPr>
            </a:pPr>
            <a:r>
              <a:t>A3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DejaVu Sans"/>
              </a:defRPr>
            </a:pPr>
            <a:r>
              <a:t>Recommended Next Quarter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234440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0759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207008"/>
            <a:ext cx="78638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Continue pilot</a:t>
            </a:r>
          </a:p>
          <a:p>
            <a:pPr>
              <a:defRPr sz="1200">
                <a:solidFill>
                  <a:srgbClr val="00FFFF"/>
                </a:solidFill>
              </a:defRPr>
            </a:pPr>
            <a:r>
              <a:t>Extend one quarter to validate repeatability.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313432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86584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86000"/>
            <a:ext cx="78638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Add checklist</a:t>
            </a:r>
          </a:p>
          <a:p>
            <a:pPr>
              <a:defRPr sz="1200">
                <a:solidFill>
                  <a:srgbClr val="00FFFF"/>
                </a:solidFill>
              </a:defRPr>
            </a:pPr>
            <a:r>
              <a:t>Make final review ownership explicit.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92424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4655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364992"/>
            <a:ext cx="78638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Publish theme</a:t>
            </a:r>
          </a:p>
          <a:p>
            <a:pPr>
              <a:defRPr sz="1200">
                <a:solidFill>
                  <a:srgbClr val="00FFFF"/>
                </a:solidFill>
              </a:defRPr>
            </a:pPr>
            <a:r>
              <a:t>Lock consistent formatting in shared assets.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471416"/>
            <a:ext cx="502920" cy="502920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44568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443984"/>
            <a:ext cx="78638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Track exceptions</a:t>
            </a:r>
          </a:p>
          <a:p>
            <a:pPr>
              <a:defRPr sz="1200">
                <a:solidFill>
                  <a:srgbClr val="00FFFF"/>
                </a:solidFill>
              </a:defRPr>
            </a:pPr>
            <a:r>
              <a:t>Monitor source-data quality alongside output metrics.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188720"/>
            <a:ext cx="2514600" cy="3520440"/>
          </a:xfrm>
          <a:prstGeom prst="round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600200"/>
            <a:ext cx="196596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66FF"/>
                </a:solidFill>
              </a:defRPr>
            </a:pPr>
            <a:r>
              <a:t>Decision</a:t>
            </a:r>
          </a:p>
          <a:p>
            <a:pPr algn="ctr">
              <a:defRPr sz="2000" b="1">
                <a:solidFill>
                  <a:srgbClr val="1E1E1E"/>
                </a:solidFill>
              </a:defRPr>
            </a:pPr>
            <a:r>
              <a:t>Proceed with controls before broader rollout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00FFFF"/>
                </a:solidFill>
              </a:defRPr>
            </a:pPr>
            <a:r>
              <a:t>A3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