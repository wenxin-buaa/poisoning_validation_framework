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43400"/>
            <a:ext cx="9144000" cy="822960"/>
          </a:xfrm>
          <a:prstGeom prst="rect">
            <a:avLst/>
          </a:prstGeom>
          <a:solidFill>
            <a:srgbClr val="006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FFFFFF"/>
                </a:solidFill>
                <a:latin typeface="DejaVu Sans"/>
              </a:rPr>
              <a:t>Document Automation Pilot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DejaVu Sans"/>
              </a:defRPr>
            </a:pPr>
            <a:r>
              <a:t>Pilot review for document automation workflow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DejaVu Sans"/>
              </a:defRPr>
            </a:pPr>
            <a:r>
              <a:t>Turnaround time fell from 5 days to 2 days while processed volume rose from 18 to 42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246120"/>
            <a:ext cx="2148840" cy="7772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33101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60%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faster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246120"/>
            <a:ext cx="2148840" cy="7772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33101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2.3x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documents processed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246120"/>
            <a:ext cx="2148840" cy="7772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33101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4.5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reviewer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E1E1E"/>
                </a:solidFill>
                <a:latin typeface="DejaVu Sans"/>
              </a:rPr>
              <a:t>Main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3703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197863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E1E"/>
                </a:solidFill>
                <a:latin typeface="DejaVu Sans"/>
              </a:defRPr>
            </a:pPr>
            <a:r>
              <a:t>The pilot improved document turnaround time from five days to two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051560"/>
            <a:ext cx="3703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19472" y="1197863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E1E"/>
                </a:solidFill>
                <a:latin typeface="DejaVu Sans"/>
              </a:defRPr>
            </a:pPr>
            <a:r>
              <a:t>Reviewers reported fewer formatting issues after template standardization.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68880"/>
            <a:ext cx="3703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61518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E1E"/>
                </a:solidFill>
                <a:latin typeface="DejaVu Sans"/>
              </a:defRPr>
            </a:pPr>
            <a:r>
              <a:t>The team wants a concise executive memo, a PDF export, and a five-slide summary deck.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468880"/>
            <a:ext cx="3703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261518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E1E"/>
                </a:solidFill>
                <a:latin typeface="DejaVu Sans"/>
              </a:defRPr>
            </a:pPr>
            <a:r>
              <a:t>Risks include inconsistent source data quality and unclear ownership of final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E1E1E"/>
                </a:solidFill>
                <a:latin typeface="DejaVu Sans"/>
              </a:rPr>
              <a:t>Pilot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6070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Turnaround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7400" y="1124712"/>
            <a:ext cx="2011680" cy="201168"/>
          </a:xfrm>
          <a:prstGeom prst="rect">
            <a:avLst/>
          </a:prstGeom>
          <a:solidFill>
            <a:srgbClr val="B8C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1124712"/>
            <a:ext cx="804672" cy="201168"/>
          </a:xfrm>
          <a:prstGeom prst="rect">
            <a:avLst/>
          </a:prstGeom>
          <a:solidFill>
            <a:srgbClr val="006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996696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E1E"/>
                </a:solidFill>
                <a:latin typeface="DejaVu Sans"/>
              </a:defRPr>
            </a:pPr>
            <a:r>
              <a:t>5 -&gt; 2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Rework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993392"/>
            <a:ext cx="2011680" cy="201168"/>
          </a:xfrm>
          <a:prstGeom prst="rect">
            <a:avLst/>
          </a:prstGeom>
          <a:solidFill>
            <a:srgbClr val="B8C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993392"/>
            <a:ext cx="574765" cy="201168"/>
          </a:xfrm>
          <a:prstGeom prst="rect">
            <a:avLst/>
          </a:prstGeom>
          <a:solidFill>
            <a:srgbClr val="006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65376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E1E"/>
                </a:solidFill>
                <a:latin typeface="DejaVu Sans"/>
              </a:defRPr>
            </a:pPr>
            <a:r>
              <a:t>14 -&gt; 4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9806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Satisfaction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862072"/>
            <a:ext cx="2011680" cy="201168"/>
          </a:xfrm>
          <a:prstGeom prst="rect">
            <a:avLst/>
          </a:prstGeom>
          <a:solidFill>
            <a:srgbClr val="B8C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862072"/>
            <a:ext cx="2011680" cy="201168"/>
          </a:xfrm>
          <a:prstGeom prst="rect">
            <a:avLst/>
          </a:prstGeom>
          <a:solidFill>
            <a:srgbClr val="006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734056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E1E"/>
                </a:solidFill>
                <a:latin typeface="DejaVu Sans"/>
              </a:defRPr>
            </a:pPr>
            <a:r>
              <a:t>3.4 -&gt; 4.5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6674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DejaVu Sans"/>
              </a:defRPr>
            </a:pPr>
            <a:r>
              <a:t>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3730751"/>
            <a:ext cx="2011680" cy="201168"/>
          </a:xfrm>
          <a:prstGeom prst="rect">
            <a:avLst/>
          </a:prstGeom>
          <a:solidFill>
            <a:srgbClr val="B8C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730751"/>
            <a:ext cx="2011680" cy="201168"/>
          </a:xfrm>
          <a:prstGeom prst="rect">
            <a:avLst/>
          </a:prstGeom>
          <a:solidFill>
            <a:srgbClr val="006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602735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1E1E"/>
                </a:solidFill>
                <a:latin typeface="DejaVu Sans"/>
              </a:defRPr>
            </a:pPr>
            <a:r>
              <a:t>18 -&gt; 42 docs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1E1E1E"/>
                </a:solidFill>
                <a:latin typeface="DejaVu Sans"/>
              </a:rPr>
              <a:t>Risks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66FF"/>
                </a:solidFill>
                <a:latin typeface="DejaVu Sans"/>
              </a:defRPr>
            </a:pPr>
            <a: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DejaVu Sans"/>
              </a:defRPr>
            </a:pPr>
            <a:r>
              <a:t>Source data quality remains inconsistent across intake materials.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DejaVu Sans"/>
              </a:defRPr>
            </a:pPr>
            <a:r>
              <a:t>Final review ownership needs a clearer single accountable role.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960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66FF"/>
                </a:solidFill>
                <a:latin typeface="DejaVu Sans"/>
              </a:defRPr>
            </a:pPr>
            <a:r>
              <a:t>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4173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DejaVu Sans"/>
              </a:defRPr>
            </a:pPr>
            <a:r>
              <a:t>Add a reviewer checklist to reduce ambiguity before final review.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DejaVu Sans"/>
              </a:defRPr>
            </a:pPr>
            <a:r>
              <a:t>Publish a shared theme package for memo and deck outputs.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960120"/>
            <a:ext cx="73152" cy="3063240"/>
          </a:xfrm>
          <a:prstGeom prst="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FFFFFF"/>
                </a:solidFill>
                <a:latin typeface="DejaVu Sans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DejaVu Sans"/>
              </a:defRPr>
            </a:pPr>
            <a:r>
              <a:t>Continue the pilot for one more quarter, add a reviewer checklist, and publish a shared theme package.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834640"/>
            <a:ext cx="548640" cy="548640"/>
          </a:xfrm>
          <a:prstGeom prst="ellipse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95351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DejaVu Sans"/>
              </a:defRPr>
            </a:pPr>
            <a:r>
              <a:t>Extend the pilot for one additional quarter.</a:t>
            </a:r>
          </a:p>
        </p:txBody>
      </p:sp>
      <p:sp>
        <p:nvSpPr>
          <p:cNvPr id="7" name="Oval 6"/>
          <p:cNvSpPr/>
          <p:nvPr/>
        </p:nvSpPr>
        <p:spPr>
          <a:xfrm>
            <a:off x="3520440" y="2834640"/>
            <a:ext cx="548640" cy="548640"/>
          </a:xfrm>
          <a:prstGeom prst="ellipse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95351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35661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DejaVu Sans"/>
              </a:defRPr>
            </a:pPr>
            <a:r>
              <a:t>Add a reviewer checklist to reduce ambiguity before final review.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2834640"/>
            <a:ext cx="548640" cy="548640"/>
          </a:xfrm>
          <a:prstGeom prst="ellipse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95351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5661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DejaVu Sans"/>
              </a:defRPr>
            </a:pPr>
            <a:r>
              <a:t>Publish a shared theme package for memo and deck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