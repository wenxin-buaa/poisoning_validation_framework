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457200" y="32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3200">
                <a:b/>
                <a:solidFill>
                  <a:srgbClr val="FFFFFF"/>
                </a:solidFill>
                <a:latin typeface="DejaVu Sans"/>
              </a:rPr>
              <a:t>Document Automation Pilot Review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1050000"/>
            <a:ext cx="1200000" cy="90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457200" y="1370000"/>
            <a:ext cx="1850000" cy="1050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577200" y="1520000"/>
            <a:ext cx="1600000" cy="4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3000">
                <a:b/>
                <a:solidFill>
                  <a:srgbClr val="FFFFFF"/>
                </a:solidFill>
                <a:latin typeface="DejaVu Sans"/>
              </a:rPr>
              <a:t>5d to 2d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577200" y="1990000"/>
            <a:ext cx="1600000" cy="2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DejaVu Sans"/>
              </a:rPr>
              <a:t>Turnaround</a:t>
            </a:r>
          </a:p>
        </p:txBody>
      </p:sp>
      <p:sp>
        <p:nvSpPr>
          <p:cNvPr id="8" name="Shape 8"/>
          <p:cNvSpPr/>
          <p:nvPr/>
        </p:nvSpPr>
        <p:spPr>
          <a:xfrm>
            <a:off x="2507200" y="1370000"/>
            <a:ext cx="1850000" cy="1050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2627200" y="1520000"/>
            <a:ext cx="1600000" cy="4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3000">
                <a:b/>
                <a:solidFill>
                  <a:srgbClr val="FFFFFF"/>
                </a:solidFill>
                <a:latin typeface="DejaVu Sans"/>
              </a:rPr>
              <a:t>14 to 4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2627200" y="1990000"/>
            <a:ext cx="1600000" cy="2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DejaVu Sans"/>
              </a:rPr>
              <a:t>Rework</a:t>
            </a:r>
          </a:p>
        </p:txBody>
      </p:sp>
      <p:sp>
        <p:nvSpPr>
          <p:cNvPr id="11" name="Shape 11"/>
          <p:cNvSpPr/>
          <p:nvPr/>
        </p:nvSpPr>
        <p:spPr>
          <a:xfrm>
            <a:off x="4557200" y="1370000"/>
            <a:ext cx="1850000" cy="1050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677200" y="1520000"/>
            <a:ext cx="1600000" cy="4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3000">
                <a:b/>
                <a:solidFill>
                  <a:srgbClr val="FFFFFF"/>
                </a:solidFill>
                <a:latin typeface="DejaVu Sans"/>
              </a:rPr>
              <a:t>18 to 42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677200" y="1990000"/>
            <a:ext cx="1600000" cy="2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DejaVu Sans"/>
              </a:rPr>
              <a:t>Throughput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40000" y="2720000"/>
            <a:ext cx="7800000" cy="3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DejaVu Sans"/>
              </a:rPr>
              <a:t>Turnaround accelerated, rework fell, and reviewers reported a better authoring experience.</a:t>
            </a:r>
          </a:p>
        </p:txBody>
      </p:sp>
      <p:sp>
        <p:nvSpPr>
          <p:cNvPr id="15" name="Shape 15"/>
          <p:cNvSpPr/>
          <p:nvPr/>
        </p:nvSpPr>
        <p:spPr>
          <a:xfrm>
            <a:off x="457200" y="2810000"/>
            <a:ext cx="90000" cy="90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640000" y="3240000"/>
            <a:ext cx="7800000" cy="3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DejaVu Sans"/>
              </a:rPr>
              <a:t>Recommendation: extend the pilot one quarter with clearer review ownership.</a:t>
            </a:r>
          </a:p>
        </p:txBody>
      </p:sp>
      <p:sp>
        <p:nvSpPr>
          <p:cNvPr id="17" name="Shape 17"/>
          <p:cNvSpPr/>
          <p:nvPr/>
        </p:nvSpPr>
        <p:spPr>
          <a:xfrm>
            <a:off x="457200" y="3330000"/>
            <a:ext cx="90000" cy="90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B"/>
          </a:solidFill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457200" y="32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3200">
                <a:b/>
                <a:solidFill>
                  <a:srgbClr val="1E1E1E"/>
                </a:solidFill>
                <a:latin typeface="DejaVu Sans"/>
              </a:rPr>
              <a:t>What Changed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1050000"/>
            <a:ext cx="1200000" cy="90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640000" y="1370000"/>
            <a:ext cx="7800000" cy="3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333333"/>
                </a:solidFill>
                <a:latin typeface="DejaVu Sans"/>
              </a:rPr>
              <a:t>Template standardization reduced formatting churn.</a:t>
            </a:r>
          </a:p>
        </p:txBody>
      </p:sp>
      <p:sp>
        <p:nvSpPr>
          <p:cNvPr id="6" name="Shape 6"/>
          <p:cNvSpPr/>
          <p:nvPr/>
        </p:nvSpPr>
        <p:spPr>
          <a:xfrm>
            <a:off x="457200" y="1460000"/>
            <a:ext cx="90000" cy="90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640000" y="1890000"/>
            <a:ext cx="7800000" cy="3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333333"/>
                </a:solidFill>
                <a:latin typeface="DejaVu Sans"/>
              </a:rPr>
              <a:t>Automation shifted work from manual assembly to structured review.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980000"/>
            <a:ext cx="90000" cy="90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640000" y="2410000"/>
            <a:ext cx="7800000" cy="3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333333"/>
                </a:solidFill>
                <a:latin typeface="DejaVu Sans"/>
              </a:rPr>
              <a:t>Shared theme governance will make outputs more consistent.</a:t>
            </a:r>
          </a:p>
        </p:txBody>
      </p:sp>
      <p:sp>
        <p:nvSpPr>
          <p:cNvPr id="10" name="Shape 10"/>
          <p:cNvSpPr/>
          <p:nvPr/>
        </p:nvSpPr>
        <p:spPr>
          <a:xfrm>
            <a:off x="457200" y="2500000"/>
            <a:ext cx="90000" cy="90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B"/>
          </a:solidFill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457200" y="32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3200">
                <a:b/>
                <a:solidFill>
                  <a:srgbClr val="1E1E1E"/>
                </a:solidFill>
                <a:latin typeface="DejaVu Sans"/>
              </a:rPr>
              <a:t>Pilot Metrics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1050000"/>
            <a:ext cx="1200000" cy="90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640000" y="1370000"/>
            <a:ext cx="7800000" cy="3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333333"/>
                </a:solidFill>
                <a:latin typeface="DejaVu Sans"/>
              </a:rPr>
              <a:t>Turnaround time: 5 to 2 days (-60%).</a:t>
            </a:r>
          </a:p>
        </p:txBody>
      </p:sp>
      <p:sp>
        <p:nvSpPr>
          <p:cNvPr id="6" name="Shape 6"/>
          <p:cNvSpPr/>
          <p:nvPr/>
        </p:nvSpPr>
        <p:spPr>
          <a:xfrm>
            <a:off x="457200" y="1460000"/>
            <a:ext cx="90000" cy="90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640000" y="1890000"/>
            <a:ext cx="7800000" cy="3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333333"/>
                </a:solidFill>
                <a:latin typeface="DejaVu Sans"/>
              </a:rPr>
              <a:t>Formatting rework: 14 to 4 items (-71%).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980000"/>
            <a:ext cx="90000" cy="90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640000" y="2410000"/>
            <a:ext cx="7800000" cy="3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333333"/>
                </a:solidFill>
                <a:latin typeface="DejaVu Sans"/>
              </a:rPr>
              <a:t>Reviewer satisfaction: 3.4 to 4.5 score (+32%).</a:t>
            </a:r>
          </a:p>
        </p:txBody>
      </p:sp>
      <p:sp>
        <p:nvSpPr>
          <p:cNvPr id="10" name="Shape 10"/>
          <p:cNvSpPr/>
          <p:nvPr/>
        </p:nvSpPr>
        <p:spPr>
          <a:xfrm>
            <a:off x="457200" y="2500000"/>
            <a:ext cx="90000" cy="90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640000" y="2930000"/>
            <a:ext cx="7800000" cy="3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333333"/>
                </a:solidFill>
                <a:latin typeface="DejaVu Sans"/>
              </a:rPr>
              <a:t>Documents processed: 18 to 42 documents (+133%).</a:t>
            </a:r>
          </a:p>
        </p:txBody>
      </p:sp>
      <p:sp>
        <p:nvSpPr>
          <p:cNvPr id="12" name="Shape 12"/>
          <p:cNvSpPr/>
          <p:nvPr/>
        </p:nvSpPr>
        <p:spPr>
          <a:xfrm>
            <a:off x="457200" y="3020000"/>
            <a:ext cx="90000" cy="90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B"/>
          </a:solidFill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457200" y="32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3200">
                <a:b/>
                <a:solidFill>
                  <a:srgbClr val="1E1E1E"/>
                </a:solidFill>
                <a:latin typeface="DejaVu Sans"/>
              </a:rPr>
              <a:t>Risks and Controls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1050000"/>
            <a:ext cx="1200000" cy="90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640000" y="1370000"/>
            <a:ext cx="7800000" cy="3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333333"/>
                </a:solidFill>
                <a:latin typeface="DejaVu Sans"/>
              </a:rPr>
              <a:t>Source data quality remains inconsistent across inputs.</a:t>
            </a:r>
          </a:p>
        </p:txBody>
      </p:sp>
      <p:sp>
        <p:nvSpPr>
          <p:cNvPr id="6" name="Shape 6"/>
          <p:cNvSpPr/>
          <p:nvPr/>
        </p:nvSpPr>
        <p:spPr>
          <a:xfrm>
            <a:off x="457200" y="1460000"/>
            <a:ext cx="90000" cy="90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640000" y="1890000"/>
            <a:ext cx="7800000" cy="3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333333"/>
                </a:solidFill>
                <a:latin typeface="DejaVu Sans"/>
              </a:rPr>
              <a:t>Final review ownership is not yet explicit.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980000"/>
            <a:ext cx="90000" cy="90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640000" y="2410000"/>
            <a:ext cx="7800000" cy="3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333333"/>
                </a:solidFill>
                <a:latin typeface="DejaVu Sans"/>
              </a:rPr>
              <a:t>Add a checklist for completeness, formatting, and approval handoff.</a:t>
            </a:r>
          </a:p>
        </p:txBody>
      </p:sp>
      <p:sp>
        <p:nvSpPr>
          <p:cNvPr id="10" name="Shape 10"/>
          <p:cNvSpPr/>
          <p:nvPr/>
        </p:nvSpPr>
        <p:spPr>
          <a:xfrm>
            <a:off x="457200" y="2500000"/>
            <a:ext cx="90000" cy="90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457200" y="32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3200">
                <a:b/>
                <a:solidFill>
                  <a:srgbClr val="FFFFFF"/>
                </a:solidFill>
                <a:latin typeface="DejaVu Sans"/>
              </a:rPr>
              <a:t>Next Quarter Plan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1050000"/>
            <a:ext cx="1200000" cy="90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640000" y="1370000"/>
            <a:ext cx="7800000" cy="3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DejaVu Sans"/>
              </a:rPr>
              <a:t>Continue the pilot with a success scorecard.</a:t>
            </a:r>
          </a:p>
        </p:txBody>
      </p:sp>
      <p:sp>
        <p:nvSpPr>
          <p:cNvPr id="6" name="Shape 6"/>
          <p:cNvSpPr/>
          <p:nvPr/>
        </p:nvSpPr>
        <p:spPr>
          <a:xfrm>
            <a:off x="457200" y="1460000"/>
            <a:ext cx="90000" cy="90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640000" y="1890000"/>
            <a:ext cx="7800000" cy="3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DejaVu Sans"/>
              </a:rPr>
              <a:t>Publish the shared Tech Innovation theme package.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980000"/>
            <a:ext cx="90000" cy="90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640000" y="2410000"/>
            <a:ext cx="7800000" cy="3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DejaVu Sans"/>
              </a:rPr>
              <a:t>Review outcomes after one additional quarter before scaling.</a:t>
            </a:r>
          </a:p>
        </p:txBody>
      </p:sp>
      <p:sp>
        <p:nvSpPr>
          <p:cNvPr id="10" name="Shape 10"/>
          <p:cNvSpPr/>
          <p:nvPr/>
        </p:nvSpPr>
        <p:spPr>
          <a:xfrm>
            <a:off x="457200" y="2500000"/>
            <a:ext cx="90000" cy="90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